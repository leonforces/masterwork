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Время доставки / восстановления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functional</c:v>
                </c:pt>
                <c:pt idx="1">
                  <c:v>webhook</c:v>
                </c:pt>
                <c:pt idx="2">
                  <c:v>RabbitMQ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4.605</c:v>
                </c:pt>
                <c:pt idx="1">
                  <c:v>4.455</c:v>
                </c:pt>
                <c:pt idx="2">
                  <c:v>8.863</c:v>
                </c:pt>
              </c:numCache>
            </c:numRef>
          </c:val>
        </c:ser>
        <c:dLbls>
          <c:numFmt formatCode="0.000 &quot;c&quot;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versity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8600"/>
            <a:ext cx="1005840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08760" y="274320"/>
            <a:ext cx="71780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400" b="0">
                <a:solidFill>
                  <a:srgbClr val="101828"/>
                </a:solidFill>
                <a:latin typeface="Arial"/>
              </a:rPr>
              <a:t>Московский авиационный институт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585216"/>
            <a:ext cx="71780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400" b="0">
                <a:solidFill>
                  <a:srgbClr val="101828"/>
                </a:solidFill>
                <a:latin typeface="Arial"/>
              </a:rPr>
              <a:t>Институт №8, кафедра №806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44752"/>
            <a:ext cx="74523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101828"/>
                </a:solidFill>
                <a:latin typeface="Arial"/>
              </a:rPr>
              <a:t>Выпускная квалификационная работа на тему: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7589520" cy="12070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2100" b="1">
                <a:solidFill>
                  <a:srgbClr val="2457A6"/>
                </a:solidFill>
                <a:latin typeface="Arial"/>
              </a:rPr>
              <a:t>«Разработка и экспериментальная оценка платформы
видеоаналитики реального времени для обнаружения,
сопровождения и событийного анализа объектов
в системах охранного видеонаблюдения»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67328"/>
            <a:ext cx="75895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101828"/>
                </a:solidFill>
                <a:latin typeface="Arial"/>
              </a:rPr>
              <a:t>Студент: </a:t>
            </a:r>
            <a:r>
              <a:rPr sz="1400">
                <a:solidFill>
                  <a:srgbClr val="101828"/>
                </a:solidFill>
                <a:latin typeface="Arial"/>
              </a:rPr>
              <a:t>Нурмухамедов А.Б., М8О-214СВ-24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059936"/>
            <a:ext cx="75895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101828"/>
                </a:solidFill>
                <a:latin typeface="Arial"/>
              </a:rPr>
              <a:t>Руководитель: </a:t>
            </a:r>
            <a:r>
              <a:rPr sz="1400">
                <a:solidFill>
                  <a:srgbClr val="101828"/>
                </a:solidFill>
                <a:latin typeface="Arial"/>
              </a:rPr>
              <a:t>Гаврилов Константин Юрьевич, д.т.н., профессор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4608576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400" b="0">
                <a:solidFill>
                  <a:srgbClr val="101828"/>
                </a:solidFill>
                <a:latin typeface="Arial"/>
              </a:rPr>
              <a:t>Москва,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versity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28016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155448"/>
            <a:ext cx="704088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000" b="1">
                <a:solidFill>
                  <a:srgbClr val="101828"/>
                </a:solidFill>
                <a:latin typeface="Arial"/>
              </a:rPr>
              <a:t>Актуальность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58784" y="4645152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/>
            <a:r>
              <a:rPr sz="1400" b="0">
                <a:solidFill>
                  <a:srgbClr val="667085"/>
                </a:solidFill>
                <a:latin typeface="Arial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960120"/>
            <a:ext cx="2331720" cy="3063240"/>
          </a:xfrm>
          <a:prstGeom prst="roundRect">
            <a:avLst>
              <a:gd name="adj" fmla="val 6000"/>
            </a:avLst>
          </a:prstGeom>
          <a:solidFill>
            <a:srgbClr val="E7F0FC"/>
          </a:solidFill>
          <a:ln w="10160">
            <a:solidFill>
              <a:srgbClr val="E7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207008"/>
            <a:ext cx="182880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ctr"/>
            <a:r>
              <a:rPr sz="2400" b="1">
                <a:solidFill>
                  <a:srgbClr val="113B79"/>
                </a:solidFill>
                <a:latin typeface="Arial"/>
              </a:rPr>
              <a:t>Камер больше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2057400"/>
            <a:ext cx="86868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103120"/>
            <a:ext cx="795528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Arial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74519" y="2231136"/>
            <a:ext cx="365761" cy="566928"/>
          </a:xfrm>
          <a:prstGeom prst="line">
            <a:avLst/>
          </a:prstGeom>
          <a:ln w="15240">
            <a:solidFill>
              <a:srgbClr val="24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87552" y="2633472"/>
            <a:ext cx="86868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679192"/>
            <a:ext cx="795528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Arial"/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874519" y="2798064"/>
            <a:ext cx="365761" cy="9144"/>
          </a:xfrm>
          <a:prstGeom prst="line">
            <a:avLst/>
          </a:prstGeom>
          <a:ln w="15240">
            <a:solidFill>
              <a:srgbClr val="24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87552" y="3209544"/>
            <a:ext cx="86868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255264"/>
            <a:ext cx="795528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Arial"/>
              </a:rPr>
              <a:t>3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874519" y="2798064"/>
            <a:ext cx="365761" cy="585215"/>
          </a:xfrm>
          <a:prstGeom prst="line">
            <a:avLst/>
          </a:prstGeom>
          <a:ln w="15240">
            <a:solidFill>
              <a:srgbClr val="24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066543" y="2542032"/>
            <a:ext cx="749808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19" y="2587752"/>
            <a:ext cx="676656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Arial"/>
              </a:rPr>
              <a:t>Опер.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960120"/>
            <a:ext cx="214884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80" y="117043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A6423D"/>
                </a:solidFill>
                <a:latin typeface="Arial"/>
              </a:rPr>
              <a:t>Риски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7" y="16916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A6423D"/>
                </a:solidFill>
                <a:latin typeface="Arial"/>
              </a:rPr>
              <a:t>latency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7" y="2057400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Arial"/>
              </a:rPr>
              <a:t>задержка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7" y="25146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B86122"/>
                </a:solidFill>
                <a:latin typeface="Arial"/>
              </a:rPr>
              <a:t>miss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5887" y="2880360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Arial"/>
              </a:rPr>
              <a:t>пропуск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75887" y="33375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2457A6"/>
                </a:solidFill>
                <a:latin typeface="Arial"/>
              </a:rPr>
              <a:t>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75887" y="3703320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Arial"/>
              </a:rPr>
              <a:t>нагрузка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52160" y="960120"/>
            <a:ext cx="260604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170432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287A52"/>
                </a:solidFill>
                <a:latin typeface="Arial"/>
              </a:rPr>
              <a:t>Нужен контур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73952" y="1737360"/>
            <a:ext cx="1325880" cy="365760"/>
          </a:xfrm>
          <a:prstGeom prst="roundRect">
            <a:avLst>
              <a:gd name="adj" fmla="val 35000"/>
            </a:avLst>
          </a:prstGeom>
          <a:solidFill>
            <a:srgbClr val="E9F8FD"/>
          </a:solidFill>
          <a:ln w="6350">
            <a:solidFill>
              <a:srgbClr val="E9F8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1810512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2457A6"/>
                </a:solidFill>
                <a:latin typeface="Arial"/>
              </a:rPr>
              <a:t>detect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3952" y="2267712"/>
            <a:ext cx="1325880" cy="365760"/>
          </a:xfrm>
          <a:prstGeom prst="roundRect">
            <a:avLst>
              <a:gd name="adj" fmla="val 35000"/>
            </a:avLst>
          </a:prstGeom>
          <a:solidFill>
            <a:srgbClr val="E9F8FD"/>
          </a:solidFill>
          <a:ln w="6350">
            <a:solidFill>
              <a:srgbClr val="E9F8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2" y="2340864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1E9FD7"/>
                </a:solidFill>
                <a:latin typeface="Arial"/>
              </a:rPr>
              <a:t>track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73952" y="2798063"/>
            <a:ext cx="1325880" cy="365760"/>
          </a:xfrm>
          <a:prstGeom prst="roundRect">
            <a:avLst>
              <a:gd name="adj" fmla="val 35000"/>
            </a:avLst>
          </a:prstGeom>
          <a:solidFill>
            <a:srgbClr val="E9F8FD"/>
          </a:solidFill>
          <a:ln w="6350">
            <a:solidFill>
              <a:srgbClr val="E9F8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2871215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287A52"/>
                </a:solidFill>
                <a:latin typeface="Arial"/>
              </a:rPr>
              <a:t>rules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73952" y="3328415"/>
            <a:ext cx="1325880" cy="365760"/>
          </a:xfrm>
          <a:prstGeom prst="roundRect">
            <a:avLst>
              <a:gd name="adj" fmla="val 35000"/>
            </a:avLst>
          </a:prstGeom>
          <a:solidFill>
            <a:srgbClr val="E9F8FD"/>
          </a:solidFill>
          <a:ln w="6350">
            <a:solidFill>
              <a:srgbClr val="E9F8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3952" y="3401567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B86122"/>
                </a:solidFill>
                <a:latin typeface="Arial"/>
              </a:rPr>
              <a:t>notify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407408"/>
            <a:ext cx="7406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600" b="1">
                <a:solidFill>
                  <a:srgbClr val="113B79"/>
                </a:solidFill>
                <a:latin typeface="Arial"/>
              </a:rPr>
              <a:t>Объект -&gt; трек -&gt; правило -&gt; событие -&gt; уведомление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versity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28016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155448"/>
            <a:ext cx="704088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000" b="1">
                <a:solidFill>
                  <a:srgbClr val="101828"/>
                </a:solidFill>
                <a:latin typeface="Arial"/>
              </a:rPr>
              <a:t>Цель и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58784" y="4645152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/>
            <a:r>
              <a:rPr sz="1400" b="0">
                <a:solidFill>
                  <a:srgbClr val="667085"/>
                </a:solidFill>
                <a:latin typeface="Arial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932688"/>
            <a:ext cx="3456432" cy="3584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17043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800" b="1">
                <a:solidFill>
                  <a:srgbClr val="2457A6"/>
                </a:solidFill>
                <a:latin typeface="Arial"/>
              </a:rPr>
              <a:t>Цель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719072"/>
            <a:ext cx="3017520" cy="10972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/>
            <a:r>
              <a:rPr sz="2600" b="1">
                <a:solidFill>
                  <a:srgbClr val="101828"/>
                </a:solidFill>
                <a:latin typeface="Arial"/>
              </a:rPr>
              <a:t>Real-time мониторинг охраняемых зон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246120"/>
            <a:ext cx="297180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600" b="0">
                <a:solidFill>
                  <a:srgbClr val="113B79"/>
                </a:solidFill>
                <a:latin typeface="Arial"/>
              </a:rPr>
              <a:t>Объект: видеопотоки
Предмет: CV + архитектура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1143000"/>
            <a:ext cx="1051560" cy="960120"/>
          </a:xfrm>
          <a:prstGeom prst="roundRect">
            <a:avLst>
              <a:gd name="adj" fmla="val 6000"/>
            </a:avLst>
          </a:prstGeom>
          <a:solidFill>
            <a:srgbClr val="E7F0FC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252728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600" b="1">
                <a:solidFill>
                  <a:srgbClr val="2457A6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1618488"/>
            <a:ext cx="89611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Arial"/>
              </a:rPr>
              <a:t>треб.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143000"/>
            <a:ext cx="1051560" cy="960120"/>
          </a:xfrm>
          <a:prstGeom prst="roundRect">
            <a:avLst>
              <a:gd name="adj" fmla="val 6000"/>
            </a:avLst>
          </a:prstGeom>
          <a:solidFill>
            <a:srgbClr val="E9F8FD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79" y="1252728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600" b="1">
                <a:solidFill>
                  <a:srgbClr val="2457A6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9592" y="1618488"/>
            <a:ext cx="89611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Arial"/>
              </a:rPr>
              <a:t>CV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50608" y="1143000"/>
            <a:ext cx="1051560" cy="960120"/>
          </a:xfrm>
          <a:prstGeom prst="roundRect">
            <a:avLst>
              <a:gd name="adj" fmla="val 6000"/>
            </a:avLst>
          </a:prstGeom>
          <a:solidFill>
            <a:srgbClr val="EAF7F0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42048" y="1252728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600" b="1">
                <a:solidFill>
                  <a:srgbClr val="2457A6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1618488"/>
            <a:ext cx="89611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Arial"/>
              </a:rPr>
              <a:t>арх.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62272" y="2651760"/>
            <a:ext cx="1051560" cy="960120"/>
          </a:xfrm>
          <a:prstGeom prst="roundRect">
            <a:avLst>
              <a:gd name="adj" fmla="val 6000"/>
            </a:avLst>
          </a:prstGeom>
          <a:solidFill>
            <a:srgbClr val="FFF3E8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2761488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600" b="1">
                <a:solidFill>
                  <a:srgbClr val="2457A6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3127248"/>
            <a:ext cx="89611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Arial"/>
              </a:rPr>
              <a:t>код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06440" y="2651760"/>
            <a:ext cx="10515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79" y="2761488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600" b="1">
                <a:solidFill>
                  <a:srgbClr val="2457A6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9592" y="3127248"/>
            <a:ext cx="89611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Arial"/>
              </a:rPr>
              <a:t>тест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50608" y="2651760"/>
            <a:ext cx="1051560" cy="960120"/>
          </a:xfrm>
          <a:prstGeom prst="roundRect">
            <a:avLst>
              <a:gd name="adj" fmla="val 6000"/>
            </a:avLst>
          </a:prstGeom>
          <a:solidFill>
            <a:srgbClr val="E7F0FC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42048" y="2761488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600" b="1">
                <a:solidFill>
                  <a:srgbClr val="2457A6"/>
                </a:solidFill>
                <a:latin typeface="Arial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127248"/>
            <a:ext cx="89611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Arial"/>
              </a:rPr>
              <a:t>план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versity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28016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155448"/>
            <a:ext cx="704088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000" b="1">
                <a:solidFill>
                  <a:srgbClr val="101828"/>
                </a:solidFill>
                <a:latin typeface="Arial"/>
              </a:rPr>
              <a:t>Ключевые решения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58784" y="4645152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/>
            <a:r>
              <a:rPr sz="1400" b="0">
                <a:solidFill>
                  <a:srgbClr val="667085"/>
                </a:solidFill>
                <a:latin typeface="Arial"/>
              </a:rP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0352" y="1005840"/>
          <a:ext cx="809244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926080"/>
                <a:gridCol w="3246120"/>
              </a:tblGrid>
              <a:tr h="388620"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ctr"/>
                      <a:r>
                        <a:rPr sz="1420" b="1">
                          <a:solidFill>
                            <a:srgbClr val="101828"/>
                          </a:solidFill>
                          <a:latin typeface="Arial"/>
                        </a:rPr>
                        <a:t>Слой</a:t>
                      </a:r>
                    </a:p>
                  </a:txBody>
                  <a:tcPr>
                    <a:solidFill>
                      <a:srgbClr val="E7F0FC"/>
                    </a:solidFill>
                  </a:tcPr>
                </a:tc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ctr"/>
                      <a:r>
                        <a:rPr sz="1420" b="1">
                          <a:solidFill>
                            <a:srgbClr val="101828"/>
                          </a:solidFill>
                          <a:latin typeface="Arial"/>
                        </a:rPr>
                        <a:t>Решение</a:t>
                      </a:r>
                    </a:p>
                  </a:txBody>
                  <a:tcPr>
                    <a:solidFill>
                      <a:srgbClr val="E7F0FC"/>
                    </a:solidFill>
                  </a:tcPr>
                </a:tc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ctr"/>
                      <a:r>
                        <a:rPr sz="1420" b="1">
                          <a:solidFill>
                            <a:srgbClr val="101828"/>
                          </a:solidFill>
                          <a:latin typeface="Arial"/>
                        </a:rPr>
                        <a:t>Зачем</a:t>
                      </a:r>
                    </a:p>
                  </a:txBody>
                  <a:tcPr>
                    <a:solidFill>
                      <a:srgbClr val="E7F0FC"/>
                    </a:solidFill>
                  </a:tcPr>
                </a:tc>
              </a:tr>
              <a:tr h="388620"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YOLO + DeepSORT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детекция и треки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zone / line / dwell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интерпретируемые события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outbox + retry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сохранность событий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JWT + RBAC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роли оператора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health + 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наблюдаемость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30352" y="3493008"/>
            <a:ext cx="8092440" cy="658368"/>
          </a:xfrm>
          <a:prstGeom prst="roundRect">
            <a:avLst>
              <a:gd name="adj" fmla="val 6000"/>
            </a:avLst>
          </a:prstGeom>
          <a:solidFill>
            <a:srgbClr val="E7F0FC"/>
          </a:solidFill>
          <a:ln w="10160">
            <a:solidFill>
              <a:srgbClr val="E7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3639312"/>
            <a:ext cx="749807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113B79"/>
                </a:solidFill>
                <a:latin typeface="Arial"/>
              </a:rPr>
              <a:t>Новизна: real-time CV + надежная событийная доставка.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4370832"/>
            <a:ext cx="1554480" cy="365760"/>
          </a:xfrm>
          <a:prstGeom prst="roundRect">
            <a:avLst>
              <a:gd name="adj" fmla="val 35000"/>
            </a:avLst>
          </a:prstGeom>
          <a:solidFill>
            <a:srgbClr val="E7F0FC"/>
          </a:solidFill>
          <a:ln w="6350">
            <a:solidFill>
              <a:srgbClr val="E7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4443984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2457A6"/>
                </a:solidFill>
                <a:latin typeface="Arial"/>
              </a:rPr>
              <a:t>capture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2" y="4370832"/>
            <a:ext cx="1554480" cy="365760"/>
          </a:xfrm>
          <a:prstGeom prst="roundRect">
            <a:avLst>
              <a:gd name="adj" fmla="val 35000"/>
            </a:avLst>
          </a:prstGeom>
          <a:solidFill>
            <a:srgbClr val="E7F0FC"/>
          </a:solidFill>
          <a:ln w="6350">
            <a:solidFill>
              <a:srgbClr val="E7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4443984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2457A6"/>
                </a:solidFill>
                <a:latin typeface="Arial"/>
              </a:rPr>
              <a:t>track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36592" y="4370832"/>
            <a:ext cx="1554480" cy="365760"/>
          </a:xfrm>
          <a:prstGeom prst="roundRect">
            <a:avLst>
              <a:gd name="adj" fmla="val 35000"/>
            </a:avLst>
          </a:prstGeom>
          <a:solidFill>
            <a:srgbClr val="E7F0FC"/>
          </a:solidFill>
          <a:ln w="6350">
            <a:solidFill>
              <a:srgbClr val="E7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4443984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2457A6"/>
                </a:solidFill>
                <a:latin typeface="Arial"/>
              </a:rPr>
              <a:t>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65392" y="4370832"/>
            <a:ext cx="1554480" cy="365760"/>
          </a:xfrm>
          <a:prstGeom prst="roundRect">
            <a:avLst>
              <a:gd name="adj" fmla="val 35000"/>
            </a:avLst>
          </a:prstGeom>
          <a:solidFill>
            <a:srgbClr val="E7F0FC"/>
          </a:solidFill>
          <a:ln w="6350">
            <a:solidFill>
              <a:srgbClr val="E7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4443984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2457A6"/>
                </a:solidFill>
                <a:latin typeface="Arial"/>
              </a:rPr>
              <a:t>notify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versity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28016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155448"/>
            <a:ext cx="704088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000" b="1">
                <a:solidFill>
                  <a:srgbClr val="101828"/>
                </a:solidFill>
                <a:latin typeface="Arial"/>
              </a:rPr>
              <a:t>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58784" y="4645152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/>
            <a:r>
              <a:rPr sz="1400" b="0">
                <a:solidFill>
                  <a:srgbClr val="667085"/>
                </a:solidFill>
                <a:latin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2296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1">
                <a:solidFill>
                  <a:srgbClr val="2457A6"/>
                </a:solidFill>
                <a:latin typeface="Arial"/>
              </a:rPr>
              <a:t>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121408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1">
                <a:solidFill>
                  <a:srgbClr val="2457A6"/>
                </a:solidFill>
                <a:latin typeface="Arial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639312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1">
                <a:solidFill>
                  <a:srgbClr val="2457A6"/>
                </a:solidFill>
                <a:latin typeface="Arial"/>
              </a:rPr>
              <a:t>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05156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097280"/>
            <a:ext cx="886968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Arial"/>
              </a:rPr>
              <a:t>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57400" y="105156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93976" y="1097280"/>
            <a:ext cx="1161288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Arial"/>
              </a:rPr>
              <a:t>FastAPI
JWT/RBAC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105156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097280"/>
            <a:ext cx="1298448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Arial"/>
              </a:rPr>
              <a:t>PostgreSQL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61888" y="1051560"/>
            <a:ext cx="19385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98464" y="1097280"/>
            <a:ext cx="1865376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Arial"/>
              </a:rPr>
              <a:t>Prometheus / Grafana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73352" y="1280160"/>
            <a:ext cx="384048" cy="0"/>
          </a:xfrm>
          <a:prstGeom prst="line">
            <a:avLst/>
          </a:prstGeom>
          <a:ln w="15240">
            <a:solidFill>
              <a:srgbClr val="24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91840" y="1280160"/>
            <a:ext cx="457199" cy="0"/>
          </a:xfrm>
          <a:prstGeom prst="line">
            <a:avLst/>
          </a:prstGeom>
          <a:ln w="15240">
            <a:solidFill>
              <a:srgbClr val="24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120640" y="1280160"/>
            <a:ext cx="841248" cy="0"/>
          </a:xfrm>
          <a:prstGeom prst="line">
            <a:avLst/>
          </a:prstGeom>
          <a:ln w="15240">
            <a:solidFill>
              <a:srgbClr val="24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13232" y="2423160"/>
            <a:ext cx="1024128" cy="502920"/>
          </a:xfrm>
          <a:prstGeom prst="roundRect">
            <a:avLst>
              <a:gd name="adj" fmla="val 12000"/>
            </a:avLst>
          </a:prstGeom>
          <a:solidFill>
            <a:srgbClr val="E7F0FC"/>
          </a:solidFill>
          <a:ln w="1270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468880"/>
            <a:ext cx="950976" cy="4114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Arial"/>
              </a:rPr>
              <a:t>RTSP /
MP4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57400" y="2423160"/>
            <a:ext cx="1325880" cy="502920"/>
          </a:xfrm>
          <a:prstGeom prst="roundRect">
            <a:avLst>
              <a:gd name="adj" fmla="val 12000"/>
            </a:avLst>
          </a:prstGeom>
          <a:solidFill>
            <a:srgbClr val="E9F8FD"/>
          </a:solidFill>
          <a:ln w="1270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3976" y="2468880"/>
            <a:ext cx="1252728" cy="4114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Arial"/>
              </a:rPr>
              <a:t>analytics-
worker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94760" y="2423160"/>
            <a:ext cx="123444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31336" y="2468880"/>
            <a:ext cx="1161288" cy="4114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Arial"/>
              </a:rPr>
              <a:t>events +
outbox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32120" y="2423160"/>
            <a:ext cx="1207008" cy="502920"/>
          </a:xfrm>
          <a:prstGeom prst="roundRect">
            <a:avLst>
              <a:gd name="adj" fmla="val 12000"/>
            </a:avLst>
          </a:prstGeom>
          <a:solidFill>
            <a:srgbClr val="E7F0FC"/>
          </a:solidFill>
          <a:ln w="1270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68696" y="2468880"/>
            <a:ext cx="1133856" cy="4114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Arial"/>
              </a:rPr>
              <a:t>RabbitMQ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78040" y="2423160"/>
            <a:ext cx="123444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14616" y="2468880"/>
            <a:ext cx="1161288" cy="4114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Arial"/>
              </a:rPr>
              <a:t>integration-
worker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737360" y="2670048"/>
            <a:ext cx="320040" cy="0"/>
          </a:xfrm>
          <a:prstGeom prst="line">
            <a:avLst/>
          </a:prstGeom>
          <a:ln w="15240">
            <a:solidFill>
              <a:srgbClr val="24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383280" y="2670048"/>
            <a:ext cx="411480" cy="0"/>
          </a:xfrm>
          <a:prstGeom prst="line">
            <a:avLst/>
          </a:prstGeom>
          <a:ln w="15240">
            <a:solidFill>
              <a:srgbClr val="24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029200" y="2670048"/>
            <a:ext cx="502920" cy="0"/>
          </a:xfrm>
          <a:prstGeom prst="line">
            <a:avLst/>
          </a:prstGeom>
          <a:ln w="15240">
            <a:solidFill>
              <a:srgbClr val="24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739128" y="2670048"/>
            <a:ext cx="438912" cy="0"/>
          </a:xfrm>
          <a:prstGeom prst="line">
            <a:avLst/>
          </a:prstGeom>
          <a:ln w="15240">
            <a:solidFill>
              <a:srgbClr val="24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389120" y="1508760"/>
            <a:ext cx="0" cy="914400"/>
          </a:xfrm>
          <a:prstGeom prst="line">
            <a:avLst/>
          </a:prstGeom>
          <a:ln w="15240">
            <a:solidFill>
              <a:srgbClr val="24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413248" y="3767328"/>
            <a:ext cx="1481328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49824" y="3813048"/>
            <a:ext cx="1408176" cy="4114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Arial"/>
              </a:rPr>
              <a:t>webhook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42048" y="3767328"/>
            <a:ext cx="1143000" cy="502920"/>
          </a:xfrm>
          <a:prstGeom prst="roundRect">
            <a:avLst>
              <a:gd name="adj" fmla="val 12000"/>
            </a:avLst>
          </a:prstGeom>
          <a:solidFill>
            <a:srgbClr val="FFF3E8"/>
          </a:solidFill>
          <a:ln w="12700">
            <a:solidFill>
              <a:srgbClr val="B861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78624" y="3813048"/>
            <a:ext cx="1069848" cy="4114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B86122"/>
                </a:solidFill>
                <a:latin typeface="Arial"/>
              </a:rPr>
              <a:t>DLQ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6172200" y="2926080"/>
            <a:ext cx="1618488" cy="841248"/>
          </a:xfrm>
          <a:prstGeom prst="line">
            <a:avLst/>
          </a:prstGeom>
          <a:ln w="15240">
            <a:solidFill>
              <a:srgbClr val="24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790688" y="2926080"/>
            <a:ext cx="0" cy="841248"/>
          </a:xfrm>
          <a:prstGeom prst="line">
            <a:avLst/>
          </a:prstGeom>
          <a:ln w="15240">
            <a:solidFill>
              <a:srgbClr val="B861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versity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28016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155448"/>
            <a:ext cx="704088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000" b="1">
                <a:solidFill>
                  <a:srgbClr val="101828"/>
                </a:solidFill>
                <a:latin typeface="Arial"/>
              </a:rPr>
              <a:t>Конвейер обработки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58784" y="4645152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/>
            <a:r>
              <a:rPr sz="1400" b="0">
                <a:solidFill>
                  <a:srgbClr val="667085"/>
                </a:solidFill>
                <a:latin typeface="Arial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78992"/>
            <a:ext cx="93268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124712"/>
            <a:ext cx="859536" cy="4754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Arial"/>
              </a:rPr>
              <a:t>capture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89888" y="1362456"/>
            <a:ext cx="182880" cy="0"/>
          </a:xfrm>
          <a:prstGeom prst="line">
            <a:avLst/>
          </a:prstGeom>
          <a:ln w="15240">
            <a:solidFill>
              <a:srgbClr val="24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627632" y="1078992"/>
            <a:ext cx="932688" cy="566928"/>
          </a:xfrm>
          <a:prstGeom prst="roundRect">
            <a:avLst>
              <a:gd name="adj" fmla="val 12000"/>
            </a:avLst>
          </a:prstGeom>
          <a:solidFill>
            <a:srgbClr val="E7F0FC"/>
          </a:solidFill>
          <a:ln w="1270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4208" y="1124712"/>
            <a:ext cx="859536" cy="4754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Arial"/>
              </a:rPr>
              <a:t>latest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1362456"/>
            <a:ext cx="182880" cy="0"/>
          </a:xfrm>
          <a:prstGeom prst="line">
            <a:avLst/>
          </a:prstGeom>
          <a:ln w="15240">
            <a:solidFill>
              <a:srgbClr val="24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98064" y="1078992"/>
            <a:ext cx="93268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124712"/>
            <a:ext cx="859536" cy="4754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Arial"/>
              </a:rPr>
              <a:t>YOLO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30752" y="1362456"/>
            <a:ext cx="182880" cy="0"/>
          </a:xfrm>
          <a:prstGeom prst="line">
            <a:avLst/>
          </a:prstGeom>
          <a:ln w="15240">
            <a:solidFill>
              <a:srgbClr val="24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968496" y="1078992"/>
            <a:ext cx="93268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05072" y="1124712"/>
            <a:ext cx="859536" cy="4754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Arial"/>
              </a:rPr>
              <a:t>DeepSORT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01183" y="1362456"/>
            <a:ext cx="182881" cy="0"/>
          </a:xfrm>
          <a:prstGeom prst="line">
            <a:avLst/>
          </a:prstGeom>
          <a:ln w="15240">
            <a:solidFill>
              <a:srgbClr val="24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38928" y="1078992"/>
            <a:ext cx="932688" cy="566928"/>
          </a:xfrm>
          <a:prstGeom prst="roundRect">
            <a:avLst>
              <a:gd name="adj" fmla="val 12000"/>
            </a:avLst>
          </a:prstGeom>
          <a:solidFill>
            <a:srgbClr val="E7F0FC"/>
          </a:solidFill>
          <a:ln w="1270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5504" y="1124712"/>
            <a:ext cx="859536" cy="4754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Arial"/>
              </a:rPr>
              <a:t>rules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71616" y="1362456"/>
            <a:ext cx="182880" cy="0"/>
          </a:xfrm>
          <a:prstGeom prst="line">
            <a:avLst/>
          </a:prstGeom>
          <a:ln w="15240">
            <a:solidFill>
              <a:srgbClr val="24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09360" y="1078992"/>
            <a:ext cx="93268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1124712"/>
            <a:ext cx="859536" cy="4754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Arial"/>
              </a:rPr>
              <a:t>outbox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242048" y="1362456"/>
            <a:ext cx="182880" cy="0"/>
          </a:xfrm>
          <a:prstGeom prst="line">
            <a:avLst/>
          </a:prstGeom>
          <a:ln w="15240">
            <a:solidFill>
              <a:srgbClr val="24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79792" y="1078992"/>
            <a:ext cx="93268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8" y="1124712"/>
            <a:ext cx="859536" cy="47548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Arial"/>
              </a:rPr>
              <a:t>webhook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2240280"/>
            <a:ext cx="7772400" cy="1143000"/>
          </a:xfrm>
          <a:prstGeom prst="roundRect">
            <a:avLst>
              <a:gd name="adj" fmla="val 6000"/>
            </a:avLst>
          </a:prstGeom>
          <a:solidFill>
            <a:srgbClr val="EAF7F0"/>
          </a:solidFill>
          <a:ln w="10160">
            <a:solidFill>
              <a:srgbClr val="EA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2542032"/>
            <a:ext cx="7187184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ctr"/>
            <a:r>
              <a:rPr sz="2800" b="1">
                <a:solidFill>
                  <a:srgbClr val="287A52"/>
                </a:solidFill>
                <a:latin typeface="Arial"/>
              </a:rPr>
              <a:t>Свежий кадр важнее старой очереди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25880" y="4041648"/>
            <a:ext cx="1417320" cy="365760"/>
          </a:xfrm>
          <a:prstGeom prst="roundRect">
            <a:avLst>
              <a:gd name="adj" fmla="val 35000"/>
            </a:avLst>
          </a:prstGeom>
          <a:solidFill>
            <a:srgbClr val="E7F0FC"/>
          </a:solidFill>
          <a:ln w="6350">
            <a:solidFill>
              <a:srgbClr val="E7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411480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2457A6"/>
                </a:solidFill>
                <a:latin typeface="Arial"/>
              </a:rPr>
              <a:t>low latency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54680" y="4041648"/>
            <a:ext cx="1417320" cy="365760"/>
          </a:xfrm>
          <a:prstGeom prst="roundRect">
            <a:avLst>
              <a:gd name="adj" fmla="val 35000"/>
            </a:avLst>
          </a:prstGeom>
          <a:solidFill>
            <a:srgbClr val="E7F0FC"/>
          </a:solidFill>
          <a:ln w="6350">
            <a:solidFill>
              <a:srgbClr val="E7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54680" y="411480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2457A6"/>
                </a:solidFill>
                <a:latin typeface="Arial"/>
              </a:rPr>
              <a:t>track_id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83480" y="4041648"/>
            <a:ext cx="1417320" cy="365760"/>
          </a:xfrm>
          <a:prstGeom prst="roundRect">
            <a:avLst>
              <a:gd name="adj" fmla="val 35000"/>
            </a:avLst>
          </a:prstGeom>
          <a:solidFill>
            <a:srgbClr val="E7F0FC"/>
          </a:solidFill>
          <a:ln w="6350">
            <a:solidFill>
              <a:srgbClr val="E7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83480" y="411480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2457A6"/>
                </a:solidFill>
                <a:latin typeface="Arial"/>
              </a:rPr>
              <a:t>dedup_key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12280" y="4041648"/>
            <a:ext cx="1097280" cy="365760"/>
          </a:xfrm>
          <a:prstGeom prst="roundRect">
            <a:avLst>
              <a:gd name="adj" fmla="val 35000"/>
            </a:avLst>
          </a:prstGeom>
          <a:solidFill>
            <a:srgbClr val="E7F0FC"/>
          </a:solidFill>
          <a:ln w="6350">
            <a:solidFill>
              <a:srgbClr val="E7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4114800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2457A6"/>
                </a:solidFill>
                <a:latin typeface="Arial"/>
              </a:rPr>
              <a:t>retry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versity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28016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155448"/>
            <a:ext cx="704088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000" b="1">
                <a:solidFill>
                  <a:srgbClr val="101828"/>
                </a:solidFill>
                <a:latin typeface="Arial"/>
              </a:rPr>
              <a:t>Реализация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58784" y="4645152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/>
            <a:r>
              <a:rPr sz="1400" b="0">
                <a:solidFill>
                  <a:srgbClr val="667085"/>
                </a:solidFill>
                <a:latin typeface="Arial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097280"/>
            <a:ext cx="1508760" cy="2148840"/>
          </a:xfrm>
          <a:prstGeom prst="roundRect">
            <a:avLst>
              <a:gd name="adj" fmla="val 6000"/>
            </a:avLst>
          </a:prstGeom>
          <a:solidFill>
            <a:srgbClr val="E7F0FC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353312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600" b="1">
                <a:solidFill>
                  <a:srgbClr val="113B79"/>
                </a:solidFill>
                <a:latin typeface="Arial"/>
              </a:rPr>
              <a:t>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011680"/>
            <a:ext cx="1188720" cy="6400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0">
                <a:solidFill>
                  <a:srgbClr val="101828"/>
                </a:solidFill>
                <a:latin typeface="Arial"/>
              </a:rPr>
              <a:t>FastAPI
RBAC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03704" y="1097280"/>
            <a:ext cx="1508760" cy="2148840"/>
          </a:xfrm>
          <a:prstGeom prst="roundRect">
            <a:avLst>
              <a:gd name="adj" fmla="val 6000"/>
            </a:avLst>
          </a:prstGeom>
          <a:solidFill>
            <a:srgbClr val="E9F8FD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1353312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600" b="1">
                <a:solidFill>
                  <a:srgbClr val="113B79"/>
                </a:solidFill>
                <a:latin typeface="Arial"/>
              </a:rPr>
              <a:t>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0008" y="2011680"/>
            <a:ext cx="1188720" cy="6400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0">
                <a:solidFill>
                  <a:srgbClr val="101828"/>
                </a:solidFill>
                <a:latin typeface="Arial"/>
              </a:rPr>
              <a:t>PostgreSQL
Alembic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77056" y="1097280"/>
            <a:ext cx="1508760" cy="2148840"/>
          </a:xfrm>
          <a:prstGeom prst="roundRect">
            <a:avLst>
              <a:gd name="adj" fmla="val 6000"/>
            </a:avLst>
          </a:prstGeom>
          <a:solidFill>
            <a:srgbClr val="EAF7F0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1353312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600" b="1">
                <a:solidFill>
                  <a:srgbClr val="113B79"/>
                </a:solidFill>
                <a:latin typeface="Arial"/>
              </a:rPr>
              <a:t>Workers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011680"/>
            <a:ext cx="1188720" cy="6400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0">
                <a:solidFill>
                  <a:srgbClr val="101828"/>
                </a:solidFill>
                <a:latin typeface="Arial"/>
              </a:rPr>
              <a:t>analytics
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50408" y="1097280"/>
            <a:ext cx="1508760" cy="2148840"/>
          </a:xfrm>
          <a:prstGeom prst="roundRect">
            <a:avLst>
              <a:gd name="adj" fmla="val 6000"/>
            </a:avLst>
          </a:prstGeom>
          <a:solidFill>
            <a:srgbClr val="FFF3E8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353312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600" b="1">
                <a:solidFill>
                  <a:srgbClr val="113B79"/>
                </a:solidFill>
                <a:latin typeface="Arial"/>
              </a:rPr>
              <a:t>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96712" y="2011680"/>
            <a:ext cx="1188720" cy="6400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0">
                <a:solidFill>
                  <a:srgbClr val="101828"/>
                </a:solidFill>
                <a:latin typeface="Arial"/>
              </a:rPr>
              <a:t>React
TypeScript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097280"/>
            <a:ext cx="150876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353312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600" b="1">
                <a:solidFill>
                  <a:srgbClr val="113B79"/>
                </a:solidFill>
                <a:latin typeface="Arial"/>
              </a:rPr>
              <a:t>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0064" y="2011680"/>
            <a:ext cx="1188720" cy="6400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0">
                <a:solidFill>
                  <a:srgbClr val="101828"/>
                </a:solidFill>
                <a:latin typeface="Arial"/>
              </a:rPr>
              <a:t>Docker
Prometheus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08760" y="3822191"/>
            <a:ext cx="608076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91640" y="3950208"/>
            <a:ext cx="57150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600" b="1">
                <a:solidFill>
                  <a:srgbClr val="2457A6"/>
                </a:solidFill>
                <a:latin typeface="Arial"/>
              </a:rPr>
              <a:t>make verify  |  make acceptance-e2e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versity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28016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155448"/>
            <a:ext cx="704088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000" b="1">
                <a:solidFill>
                  <a:srgbClr val="101828"/>
                </a:solidFill>
                <a:latin typeface="Arial"/>
              </a:rPr>
              <a:t>UI и демо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58784" y="4645152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/>
            <a:r>
              <a:rPr sz="1400" b="0">
                <a:solidFill>
                  <a:srgbClr val="667085"/>
                </a:solidFill>
                <a:latin typeface="Arial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914400"/>
            <a:ext cx="1993392" cy="1444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960120"/>
            <a:ext cx="1536192" cy="10241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2084832"/>
            <a:ext cx="193852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400" b="0">
                <a:solidFill>
                  <a:srgbClr val="667085"/>
                </a:solidFill>
                <a:latin typeface="Arial"/>
              </a:rPr>
              <a:t>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2032" y="914400"/>
            <a:ext cx="1993392" cy="1444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i-dem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0632" y="960120"/>
            <a:ext cx="1536192" cy="10241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69464" y="2084832"/>
            <a:ext cx="193852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400" b="0">
                <a:solidFill>
                  <a:srgbClr val="667085"/>
                </a:solidFill>
                <a:latin typeface="Arial"/>
              </a:rPr>
              <a:t>Demo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0016" y="914400"/>
            <a:ext cx="1993392" cy="1444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ui-ev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616" y="960120"/>
            <a:ext cx="1536192" cy="10241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27448" y="2084832"/>
            <a:ext cx="193852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400" b="0">
                <a:solidFill>
                  <a:srgbClr val="667085"/>
                </a:solidFill>
                <a:latin typeface="Arial"/>
              </a:rPr>
              <a:t>Events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914400"/>
            <a:ext cx="1993392" cy="1444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ui-stat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960120"/>
            <a:ext cx="1536192" cy="10241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85432" y="2084832"/>
            <a:ext cx="193852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400" b="0">
                <a:solidFill>
                  <a:srgbClr val="667085"/>
                </a:solidFill>
                <a:latin typeface="Arial"/>
              </a:rPr>
              <a:t>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5568" y="3063240"/>
            <a:ext cx="141732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3310128"/>
            <a:ext cx="12344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600" b="1">
                <a:solidFill>
                  <a:srgbClr val="2457A6"/>
                </a:solidFill>
                <a:latin typeface="Arial"/>
              </a:rPr>
              <a:t>Acknowledge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39" y="3063240"/>
            <a:ext cx="141732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79" y="3310128"/>
            <a:ext cx="12344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600" b="1">
                <a:solidFill>
                  <a:srgbClr val="2457A6"/>
                </a:solidFill>
                <a:latin typeface="Arial"/>
              </a:rPr>
              <a:t>Evidence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53712" y="3063240"/>
            <a:ext cx="141732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1" y="3310128"/>
            <a:ext cx="12344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600" b="1">
                <a:solidFill>
                  <a:srgbClr val="2457A6"/>
                </a:solidFill>
                <a:latin typeface="Arial"/>
              </a:rPr>
              <a:t>Routes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2783" y="3063240"/>
            <a:ext cx="141732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3" y="3310128"/>
            <a:ext cx="12344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600" b="1">
                <a:solidFill>
                  <a:srgbClr val="2457A6"/>
                </a:solidFill>
                <a:latin typeface="Arial"/>
              </a:rPr>
              <a:t>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407408"/>
            <a:ext cx="75895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113B79"/>
                </a:solidFill>
                <a:latin typeface="Arial"/>
              </a:rPr>
              <a:t>PATCH ack + GET evidence работают через API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versity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28016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155448"/>
            <a:ext cx="704088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000" b="1">
                <a:solidFill>
                  <a:srgbClr val="101828"/>
                </a:solidFill>
                <a:latin typeface="Arial"/>
              </a:rPr>
              <a:t>Методика апробации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58784" y="4645152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/>
            <a:r>
              <a:rPr sz="1400" b="0">
                <a:solidFill>
                  <a:srgbClr val="667085"/>
                </a:solidFill>
                <a:latin typeface="Arial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941832"/>
          <a:ext cx="8046719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3749039"/>
                <a:gridCol w="2606040"/>
              </a:tblGrid>
              <a:tr h="356616"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ctr"/>
                      <a:r>
                        <a:rPr sz="1420" b="1">
                          <a:solidFill>
                            <a:srgbClr val="101828"/>
                          </a:solidFill>
                          <a:latin typeface="Arial"/>
                        </a:rPr>
                        <a:t>Контур</a:t>
                      </a:r>
                    </a:p>
                  </a:txBody>
                  <a:tcPr>
                    <a:solidFill>
                      <a:srgbClr val="E7F0FC"/>
                    </a:solidFill>
                  </a:tcPr>
                </a:tc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ctr"/>
                      <a:r>
                        <a:rPr sz="1420" b="1">
                          <a:solidFill>
                            <a:srgbClr val="101828"/>
                          </a:solidFill>
                          <a:latin typeface="Arial"/>
                        </a:rPr>
                        <a:t>Проверка</a:t>
                      </a:r>
                    </a:p>
                  </a:txBody>
                  <a:tcPr>
                    <a:solidFill>
                      <a:srgbClr val="E7F0FC"/>
                    </a:solidFill>
                  </a:tcPr>
                </a:tc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ctr"/>
                      <a:r>
                        <a:rPr sz="1420" b="1">
                          <a:solidFill>
                            <a:srgbClr val="101828"/>
                          </a:solidFill>
                          <a:latin typeface="Arial"/>
                        </a:rPr>
                        <a:t>Критерий</a:t>
                      </a:r>
                    </a:p>
                  </a:txBody>
                  <a:tcPr>
                    <a:solidFill>
                      <a:srgbClr val="E7F0FC"/>
                    </a:solidFill>
                  </a:tcPr>
                </a:tc>
              </a:tr>
              <a:tr h="356616"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CPU/E2E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event -&gt; outbox -&gt; webhook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Reliability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RabbitMQ / webhook outage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restore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JWT / RBAC viewer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Demo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БПЛА +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событие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063240"/>
            <a:ext cx="2057400" cy="1005840"/>
          </a:xfrm>
          <a:prstGeom prst="roundRect">
            <a:avLst>
              <a:gd name="adj" fmla="val 6000"/>
            </a:avLst>
          </a:prstGeom>
          <a:solidFill>
            <a:srgbClr val="E7F0FC"/>
          </a:solidFill>
          <a:ln w="10160">
            <a:solidFill>
              <a:srgbClr val="E7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246120"/>
            <a:ext cx="16916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2457A6"/>
                </a:solidFill>
                <a:latin typeface="Arial"/>
              </a:rPr>
              <a:t>Latency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566160"/>
            <a:ext cx="16276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500" b="0">
                <a:solidFill>
                  <a:srgbClr val="101828"/>
                </a:solidFill>
                <a:latin typeface="Arial"/>
              </a:rPr>
              <a:t>functional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27248" y="3063240"/>
            <a:ext cx="2057400" cy="1005840"/>
          </a:xfrm>
          <a:prstGeom prst="roundRect">
            <a:avLst>
              <a:gd name="adj" fmla="val 6000"/>
            </a:avLst>
          </a:prstGeom>
          <a:solidFill>
            <a:srgbClr val="EAF7F0"/>
          </a:solidFill>
          <a:ln w="10160">
            <a:solidFill>
              <a:srgbClr val="EA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3246120"/>
            <a:ext cx="16916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287A52"/>
                </a:solidFill>
                <a:latin typeface="Arial"/>
              </a:rPr>
              <a:t>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4" y="3566160"/>
            <a:ext cx="157276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500" b="0">
                <a:solidFill>
                  <a:srgbClr val="101828"/>
                </a:solidFill>
                <a:latin typeface="Arial"/>
              </a:rPr>
              <a:t>success / retry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3063240"/>
            <a:ext cx="2057400" cy="1005840"/>
          </a:xfrm>
          <a:prstGeom prst="roundRect">
            <a:avLst>
              <a:gd name="adj" fmla="val 6000"/>
            </a:avLst>
          </a:prstGeom>
          <a:solidFill>
            <a:srgbClr val="FFF3E8"/>
          </a:solidFill>
          <a:ln w="10160">
            <a:solidFill>
              <a:srgbClr val="FF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96712" y="3246120"/>
            <a:ext cx="16916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B86122"/>
                </a:solidFill>
                <a:latin typeface="Arial"/>
              </a:rPr>
              <a:t>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42432" y="3566160"/>
            <a:ext cx="16002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500" b="0">
                <a:solidFill>
                  <a:srgbClr val="101828"/>
                </a:solidFill>
                <a:latin typeface="Arial"/>
              </a:rPr>
              <a:t>JWT / RBAC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versity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28016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155448"/>
            <a:ext cx="704088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000" b="1">
                <a:solidFill>
                  <a:srgbClr val="101828"/>
                </a:solidFill>
                <a:latin typeface="Arial"/>
              </a:rPr>
              <a:t>CPU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58784" y="4645152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/>
            <a:r>
              <a:rPr sz="1400" b="0">
                <a:solidFill>
                  <a:srgbClr val="667085"/>
                </a:solidFill>
                <a:latin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287A52"/>
                </a:solidFill>
                <a:latin typeface="Arial"/>
              </a:rPr>
              <a:t>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Arial"/>
              </a:rPr>
              <a:t>общий статус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868680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2457A6"/>
                </a:solidFill>
                <a:latin typeface="Arial"/>
              </a:rPr>
              <a:t>30.732с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234440"/>
            <a:ext cx="135331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Arial"/>
              </a:rPr>
              <a:t>длительность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3552" y="86868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B86122"/>
                </a:solidFill>
                <a:latin typeface="Arial"/>
              </a:rPr>
              <a:t>403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3552" y="1234440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Arial"/>
              </a:rPr>
              <a:t>viewer write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58368" y="1874519"/>
          <a:ext cx="3931920" cy="2331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828032" y="1188720"/>
          <a:ext cx="3730752" cy="2670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496312"/>
              </a:tblGrid>
              <a:tr h="534009"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ctr"/>
                      <a:r>
                        <a:rPr sz="1420" b="1">
                          <a:solidFill>
                            <a:srgbClr val="101828"/>
                          </a:solidFill>
                          <a:latin typeface="Arial"/>
                        </a:rPr>
                        <a:t>Проверка</a:t>
                      </a:r>
                    </a:p>
                  </a:txBody>
                  <a:tcPr>
                    <a:solidFill>
                      <a:srgbClr val="E7F0FC"/>
                    </a:solidFill>
                  </a:tcPr>
                </a:tc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ctr"/>
                      <a:r>
                        <a:rPr sz="1420" b="1">
                          <a:solidFill>
                            <a:srgbClr val="101828"/>
                          </a:solidFill>
                          <a:latin typeface="Arial"/>
                        </a:rPr>
                        <a:t>Факт</a:t>
                      </a:r>
                    </a:p>
                  </a:txBody>
                  <a:tcPr>
                    <a:solidFill>
                      <a:srgbClr val="E7F0FC"/>
                    </a:solidFill>
                  </a:tcPr>
                </a:tc>
              </a:tr>
              <a:tr h="534009"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E2E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published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4009"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RabbitMQ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retry -&gt; published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4009"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Webhook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failed -&gt; 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4009"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DLQ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 tIns="25400" bIns="25400">
                      <a:norm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101828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892040" y="4114800"/>
            <a:ext cx="358444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600" b="0">
                <a:solidFill>
                  <a:srgbClr val="287A52"/>
                </a:solidFill>
                <a:latin typeface="Arial"/>
              </a:rPr>
              <a:t>Подтверждено: E2E + reliability + RBAC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versity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28016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155448"/>
            <a:ext cx="7040880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000" b="1">
                <a:solidFill>
                  <a:srgbClr val="101828"/>
                </a:solidFill>
                <a:latin typeface="Arial"/>
              </a:rPr>
              <a:t>Выводы и развитие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58784" y="4645152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/>
            <a:r>
              <a:rPr sz="1400" b="0">
                <a:solidFill>
                  <a:srgbClr val="667085"/>
                </a:solidFill>
                <a:latin typeface="Arial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914400"/>
            <a:ext cx="347472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115568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2457A6"/>
                </a:solidFill>
                <a:latin typeface="Arial"/>
              </a:rPr>
              <a:t>Получено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81328"/>
            <a:ext cx="2926080" cy="1691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01828"/>
                </a:solidFill>
                <a:latin typeface="Arial"/>
              </a:rPr>
              <a:t>- real-time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01828"/>
                </a:solidFill>
                <a:latin typeface="Arial"/>
              </a:rPr>
              <a:t>- events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01828"/>
                </a:solidFill>
                <a:latin typeface="Arial"/>
              </a:rPr>
              <a:t>- outbox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01828"/>
                </a:solidFill>
                <a:latin typeface="Arial"/>
              </a:rPr>
              <a:t>- БПЛА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914400"/>
            <a:ext cx="347472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115568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287A52"/>
                </a:solidFill>
                <a:latin typeface="Arial"/>
              </a:rPr>
              <a:t>Дальнейшее развитие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481328"/>
            <a:ext cx="2926080" cy="1691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01828"/>
                </a:solidFill>
                <a:latin typeface="Arial"/>
              </a:rPr>
              <a:t>- данные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01828"/>
                </a:solidFill>
                <a:latin typeface="Arial"/>
              </a:rPr>
              <a:t>- ReID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01828"/>
                </a:solidFill>
                <a:latin typeface="Arial"/>
              </a:rPr>
              <a:t>- storage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01828"/>
                </a:solidFill>
                <a:latin typeface="Arial"/>
              </a:rPr>
              <a:t>- ONNX/TensorRT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315968"/>
            <a:ext cx="7452360" cy="384048"/>
          </a:xfrm>
          <a:prstGeom prst="rect">
            <a:avLst/>
          </a:prstGeom>
          <a:solidFill>
            <a:srgbClr val="2457A6"/>
          </a:solidFill>
          <a:ln w="6350"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74523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Цель работы достигнута.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